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IBM Plex Sans Arabic" panose="020B0604020202020204" charset="-78"/>
      <p:regular r:id="rId12"/>
    </p:embeddedFont>
    <p:embeddedFont>
      <p:font typeface="IBM Plex Sans Arabic Bold" panose="020B0604020202020204" charset="-78"/>
      <p:regular r:id="rId13"/>
    </p:embeddedFont>
    <p:embeddedFont>
      <p:font typeface="Work Sans Semi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2031113" y="2427530"/>
            <a:ext cx="21785542" cy="271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8"/>
              </a:lnSpc>
            </a:pPr>
            <a:r>
              <a:rPr lang="en-US" sz="20077" b="1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EVENTRA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06258" y="5248275"/>
            <a:ext cx="10053277" cy="498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15"/>
              </a:lnSpc>
              <a:spcBef>
                <a:spcPct val="0"/>
              </a:spcBef>
            </a:pPr>
            <a:r>
              <a:rPr lang="en-US" sz="399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Bringing events and students together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402559"/>
            <a:ext cx="11269533" cy="117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329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Presented by:</a:t>
            </a:r>
          </a:p>
          <a:p>
            <a:pPr algn="l">
              <a:lnSpc>
                <a:spcPts val="3064"/>
              </a:lnSpc>
            </a:pPr>
            <a:endParaRPr lang="en-US" sz="3295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l">
              <a:lnSpc>
                <a:spcPts val="3064"/>
              </a:lnSpc>
              <a:spcBef>
                <a:spcPct val="0"/>
              </a:spcBef>
            </a:pPr>
            <a:r>
              <a:rPr lang="en-US" sz="329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Vaibhavi Barve (2656), Simran Naik Dessai (2650)</a:t>
            </a:r>
          </a:p>
        </p:txBody>
      </p:sp>
      <p:sp>
        <p:nvSpPr>
          <p:cNvPr id="7" name="AutoShape 7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96647" y="2481540"/>
            <a:ext cx="15294707" cy="139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31"/>
              </a:lnSpc>
            </a:pPr>
            <a:r>
              <a:rPr lang="en-US" sz="10227" b="1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360" y="4467915"/>
            <a:ext cx="14859575" cy="1871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90"/>
              </a:lnSpc>
            </a:pPr>
            <a:r>
              <a:rPr lang="en-US" sz="329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Students face difficulties tracking attendance for extra co-curricular and sports activities. Educational institutions also face difficulties in scheduling events and managing attendance manually, which leads to the confusion among students and teachers.</a:t>
            </a:r>
          </a:p>
        </p:txBody>
      </p:sp>
      <p:sp>
        <p:nvSpPr>
          <p:cNvPr id="6" name="AutoShape 6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3037503" y="3366273"/>
            <a:ext cx="4912970" cy="4064780"/>
            <a:chOff x="0" y="0"/>
            <a:chExt cx="1293951" cy="10705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3951" cy="1070559"/>
            </a:xfrm>
            <a:custGeom>
              <a:avLst/>
              <a:gdLst/>
              <a:ahLst/>
              <a:cxnLst/>
              <a:rect l="l" t="t" r="r" b="b"/>
              <a:pathLst>
                <a:path w="1293951" h="1070559">
                  <a:moveTo>
                    <a:pt x="80366" y="0"/>
                  </a:moveTo>
                  <a:lnTo>
                    <a:pt x="1213584" y="0"/>
                  </a:lnTo>
                  <a:cubicBezTo>
                    <a:pt x="1234899" y="0"/>
                    <a:pt x="1255340" y="8467"/>
                    <a:pt x="1270412" y="23539"/>
                  </a:cubicBezTo>
                  <a:cubicBezTo>
                    <a:pt x="1285484" y="38610"/>
                    <a:pt x="1293951" y="59052"/>
                    <a:pt x="1293951" y="80366"/>
                  </a:cubicBezTo>
                  <a:lnTo>
                    <a:pt x="1293951" y="990193"/>
                  </a:lnTo>
                  <a:cubicBezTo>
                    <a:pt x="1293951" y="1011507"/>
                    <a:pt x="1285484" y="1031949"/>
                    <a:pt x="1270412" y="1047021"/>
                  </a:cubicBezTo>
                  <a:cubicBezTo>
                    <a:pt x="1255340" y="1062092"/>
                    <a:pt x="1234899" y="1070559"/>
                    <a:pt x="1213584" y="1070559"/>
                  </a:cubicBezTo>
                  <a:lnTo>
                    <a:pt x="80366" y="1070559"/>
                  </a:lnTo>
                  <a:cubicBezTo>
                    <a:pt x="59052" y="1070559"/>
                    <a:pt x="38610" y="1062092"/>
                    <a:pt x="23539" y="1047021"/>
                  </a:cubicBezTo>
                  <a:cubicBezTo>
                    <a:pt x="8467" y="1031949"/>
                    <a:pt x="0" y="1011507"/>
                    <a:pt x="0" y="990193"/>
                  </a:cubicBezTo>
                  <a:lnTo>
                    <a:pt x="0" y="80366"/>
                  </a:lnTo>
                  <a:cubicBezTo>
                    <a:pt x="0" y="59052"/>
                    <a:pt x="8467" y="38610"/>
                    <a:pt x="23539" y="23539"/>
                  </a:cubicBezTo>
                  <a:cubicBezTo>
                    <a:pt x="38610" y="8467"/>
                    <a:pt x="59052" y="0"/>
                    <a:pt x="8036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93951" cy="11086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595372" y="1322072"/>
            <a:ext cx="11097256" cy="139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31"/>
              </a:lnSpc>
            </a:pPr>
            <a:r>
              <a:rPr lang="en-US" sz="10227" b="1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OUR SOLUTION</a:t>
            </a:r>
          </a:p>
        </p:txBody>
      </p:sp>
      <p:sp>
        <p:nvSpPr>
          <p:cNvPr id="9" name="AutoShape 9"/>
          <p:cNvSpPr/>
          <p:nvPr/>
        </p:nvSpPr>
        <p:spPr>
          <a:xfrm>
            <a:off x="3505468" y="4684757"/>
            <a:ext cx="3977040" cy="1905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4044223" y="3855894"/>
            <a:ext cx="3438285" cy="415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3"/>
              </a:lnSpc>
              <a:spcBef>
                <a:spcPct val="0"/>
              </a:spcBef>
            </a:pPr>
            <a:r>
              <a:rPr lang="en-US" sz="2395" b="1" dirty="0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Attendance tracking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56538" y="5095875"/>
            <a:ext cx="4474900" cy="1589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3"/>
              </a:lnSpc>
              <a:spcBef>
                <a:spcPct val="0"/>
              </a:spcBef>
            </a:pPr>
            <a:r>
              <a:rPr lang="en-US" sz="229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Records and calculates student attendance for cultural,sports, other activities and practice sessions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190907" y="3366273"/>
            <a:ext cx="4912970" cy="4064780"/>
            <a:chOff x="0" y="0"/>
            <a:chExt cx="1293951" cy="10705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93951" cy="1070559"/>
            </a:xfrm>
            <a:custGeom>
              <a:avLst/>
              <a:gdLst/>
              <a:ahLst/>
              <a:cxnLst/>
              <a:rect l="l" t="t" r="r" b="b"/>
              <a:pathLst>
                <a:path w="1293951" h="1070559">
                  <a:moveTo>
                    <a:pt x="80366" y="0"/>
                  </a:moveTo>
                  <a:lnTo>
                    <a:pt x="1213584" y="0"/>
                  </a:lnTo>
                  <a:cubicBezTo>
                    <a:pt x="1234899" y="0"/>
                    <a:pt x="1255340" y="8467"/>
                    <a:pt x="1270412" y="23539"/>
                  </a:cubicBezTo>
                  <a:cubicBezTo>
                    <a:pt x="1285484" y="38610"/>
                    <a:pt x="1293951" y="59052"/>
                    <a:pt x="1293951" y="80366"/>
                  </a:cubicBezTo>
                  <a:lnTo>
                    <a:pt x="1293951" y="990193"/>
                  </a:lnTo>
                  <a:cubicBezTo>
                    <a:pt x="1293951" y="1011507"/>
                    <a:pt x="1285484" y="1031949"/>
                    <a:pt x="1270412" y="1047021"/>
                  </a:cubicBezTo>
                  <a:cubicBezTo>
                    <a:pt x="1255340" y="1062092"/>
                    <a:pt x="1234899" y="1070559"/>
                    <a:pt x="1213584" y="1070559"/>
                  </a:cubicBezTo>
                  <a:lnTo>
                    <a:pt x="80366" y="1070559"/>
                  </a:lnTo>
                  <a:cubicBezTo>
                    <a:pt x="59052" y="1070559"/>
                    <a:pt x="38610" y="1062092"/>
                    <a:pt x="23539" y="1047021"/>
                  </a:cubicBezTo>
                  <a:cubicBezTo>
                    <a:pt x="8467" y="1031949"/>
                    <a:pt x="0" y="1011507"/>
                    <a:pt x="0" y="990193"/>
                  </a:cubicBezTo>
                  <a:lnTo>
                    <a:pt x="0" y="80366"/>
                  </a:lnTo>
                  <a:cubicBezTo>
                    <a:pt x="0" y="59052"/>
                    <a:pt x="8467" y="38610"/>
                    <a:pt x="23539" y="23539"/>
                  </a:cubicBezTo>
                  <a:cubicBezTo>
                    <a:pt x="38610" y="8467"/>
                    <a:pt x="59052" y="0"/>
                    <a:pt x="8036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93951" cy="11086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425750" y="3855894"/>
            <a:ext cx="3048037" cy="415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3"/>
              </a:lnSpc>
              <a:spcBef>
                <a:spcPct val="0"/>
              </a:spcBef>
            </a:pPr>
            <a:r>
              <a:rPr lang="en-US" sz="2395" b="1" dirty="0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Event scheduling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96656" y="5161007"/>
            <a:ext cx="4195972" cy="118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3"/>
              </a:lnSpc>
              <a:spcBef>
                <a:spcPct val="0"/>
              </a:spcBef>
            </a:pPr>
            <a:r>
              <a:rPr lang="en-US" sz="229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Enables timely scheduling of the events and practice sessions.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606122" y="4722857"/>
            <a:ext cx="3977040" cy="1905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3037503" y="3366273"/>
            <a:ext cx="4912970" cy="4064780"/>
            <a:chOff x="0" y="0"/>
            <a:chExt cx="1293951" cy="10705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3951" cy="1070559"/>
            </a:xfrm>
            <a:custGeom>
              <a:avLst/>
              <a:gdLst/>
              <a:ahLst/>
              <a:cxnLst/>
              <a:rect l="l" t="t" r="r" b="b"/>
              <a:pathLst>
                <a:path w="1293951" h="1070559">
                  <a:moveTo>
                    <a:pt x="80366" y="0"/>
                  </a:moveTo>
                  <a:lnTo>
                    <a:pt x="1213584" y="0"/>
                  </a:lnTo>
                  <a:cubicBezTo>
                    <a:pt x="1234899" y="0"/>
                    <a:pt x="1255340" y="8467"/>
                    <a:pt x="1270412" y="23539"/>
                  </a:cubicBezTo>
                  <a:cubicBezTo>
                    <a:pt x="1285484" y="38610"/>
                    <a:pt x="1293951" y="59052"/>
                    <a:pt x="1293951" y="80366"/>
                  </a:cubicBezTo>
                  <a:lnTo>
                    <a:pt x="1293951" y="990193"/>
                  </a:lnTo>
                  <a:cubicBezTo>
                    <a:pt x="1293951" y="1011507"/>
                    <a:pt x="1285484" y="1031949"/>
                    <a:pt x="1270412" y="1047021"/>
                  </a:cubicBezTo>
                  <a:cubicBezTo>
                    <a:pt x="1255340" y="1062092"/>
                    <a:pt x="1234899" y="1070559"/>
                    <a:pt x="1213584" y="1070559"/>
                  </a:cubicBezTo>
                  <a:lnTo>
                    <a:pt x="80366" y="1070559"/>
                  </a:lnTo>
                  <a:cubicBezTo>
                    <a:pt x="59052" y="1070559"/>
                    <a:pt x="38610" y="1062092"/>
                    <a:pt x="23539" y="1047021"/>
                  </a:cubicBezTo>
                  <a:cubicBezTo>
                    <a:pt x="8467" y="1031949"/>
                    <a:pt x="0" y="1011507"/>
                    <a:pt x="0" y="990193"/>
                  </a:cubicBezTo>
                  <a:lnTo>
                    <a:pt x="0" y="80366"/>
                  </a:lnTo>
                  <a:cubicBezTo>
                    <a:pt x="0" y="59052"/>
                    <a:pt x="8467" y="38610"/>
                    <a:pt x="23539" y="23539"/>
                  </a:cubicBezTo>
                  <a:cubicBezTo>
                    <a:pt x="38610" y="8467"/>
                    <a:pt x="59052" y="0"/>
                    <a:pt x="8036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93951" cy="11086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595372" y="1322072"/>
            <a:ext cx="11097256" cy="139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31"/>
              </a:lnSpc>
            </a:pPr>
            <a:r>
              <a:rPr lang="en-US" sz="10227" b="1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OUR SOLUTION</a:t>
            </a:r>
          </a:p>
        </p:txBody>
      </p:sp>
      <p:sp>
        <p:nvSpPr>
          <p:cNvPr id="9" name="AutoShape 9"/>
          <p:cNvSpPr/>
          <p:nvPr/>
        </p:nvSpPr>
        <p:spPr>
          <a:xfrm>
            <a:off x="3505468" y="4684757"/>
            <a:ext cx="3977040" cy="1905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3829554" y="3855894"/>
            <a:ext cx="3977040" cy="415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3"/>
              </a:lnSpc>
              <a:spcBef>
                <a:spcPct val="0"/>
              </a:spcBef>
            </a:pPr>
            <a:r>
              <a:rPr lang="en-US" sz="2395" b="1" dirty="0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Attendance Monitoring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13560" y="5095875"/>
            <a:ext cx="3760855" cy="118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3"/>
              </a:lnSpc>
              <a:spcBef>
                <a:spcPct val="0"/>
              </a:spcBef>
            </a:pPr>
            <a:r>
              <a:rPr lang="en-US" sz="229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Allows students to easily view and track their attendance records.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190907" y="3366273"/>
            <a:ext cx="4912970" cy="4064780"/>
            <a:chOff x="0" y="0"/>
            <a:chExt cx="1293951" cy="10705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93951" cy="1070559"/>
            </a:xfrm>
            <a:custGeom>
              <a:avLst/>
              <a:gdLst/>
              <a:ahLst/>
              <a:cxnLst/>
              <a:rect l="l" t="t" r="r" b="b"/>
              <a:pathLst>
                <a:path w="1293951" h="1070559">
                  <a:moveTo>
                    <a:pt x="80366" y="0"/>
                  </a:moveTo>
                  <a:lnTo>
                    <a:pt x="1213584" y="0"/>
                  </a:lnTo>
                  <a:cubicBezTo>
                    <a:pt x="1234899" y="0"/>
                    <a:pt x="1255340" y="8467"/>
                    <a:pt x="1270412" y="23539"/>
                  </a:cubicBezTo>
                  <a:cubicBezTo>
                    <a:pt x="1285484" y="38610"/>
                    <a:pt x="1293951" y="59052"/>
                    <a:pt x="1293951" y="80366"/>
                  </a:cubicBezTo>
                  <a:lnTo>
                    <a:pt x="1293951" y="990193"/>
                  </a:lnTo>
                  <a:cubicBezTo>
                    <a:pt x="1293951" y="1011507"/>
                    <a:pt x="1285484" y="1031949"/>
                    <a:pt x="1270412" y="1047021"/>
                  </a:cubicBezTo>
                  <a:cubicBezTo>
                    <a:pt x="1255340" y="1062092"/>
                    <a:pt x="1234899" y="1070559"/>
                    <a:pt x="1213584" y="1070559"/>
                  </a:cubicBezTo>
                  <a:lnTo>
                    <a:pt x="80366" y="1070559"/>
                  </a:lnTo>
                  <a:cubicBezTo>
                    <a:pt x="59052" y="1070559"/>
                    <a:pt x="38610" y="1062092"/>
                    <a:pt x="23539" y="1047021"/>
                  </a:cubicBezTo>
                  <a:cubicBezTo>
                    <a:pt x="8467" y="1031949"/>
                    <a:pt x="0" y="1011507"/>
                    <a:pt x="0" y="990193"/>
                  </a:cubicBezTo>
                  <a:lnTo>
                    <a:pt x="0" y="80366"/>
                  </a:lnTo>
                  <a:cubicBezTo>
                    <a:pt x="0" y="59052"/>
                    <a:pt x="8467" y="38610"/>
                    <a:pt x="23539" y="23539"/>
                  </a:cubicBezTo>
                  <a:cubicBezTo>
                    <a:pt x="38610" y="8467"/>
                    <a:pt x="59052" y="0"/>
                    <a:pt x="8036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93951" cy="11086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387913" y="3905549"/>
            <a:ext cx="441345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Verified Records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96656" y="5095875"/>
            <a:ext cx="4195972" cy="110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3"/>
              </a:lnSpc>
              <a:spcBef>
                <a:spcPct val="0"/>
              </a:spcBef>
            </a:pPr>
            <a:r>
              <a:rPr lang="en-US" sz="209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Maintains reliable attendance and participation records verified by authorized faculty.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606122" y="4722857"/>
            <a:ext cx="3977040" cy="1905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280357" y="2997026"/>
          <a:ext cx="13862294" cy="6496050"/>
        </p:xfrm>
        <a:graphic>
          <a:graphicData uri="http://schemas.openxmlformats.org/drawingml/2006/table">
            <a:tbl>
              <a:tblPr/>
              <a:tblGrid>
                <a:gridCol w="2031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0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9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989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IBM Plex Sans Arabic Bold"/>
                          <a:ea typeface="IBM Plex Sans Arabic Bold"/>
                          <a:cs typeface="IBM Plex Sans Arabic Bold"/>
                          <a:sym typeface="IBM Plex Sans Arabic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IBM Plex Sans Arabic Bold"/>
                          <a:ea typeface="IBM Plex Sans Arabic Bold"/>
                          <a:cs typeface="IBM Plex Sans Arabic Bold"/>
                          <a:sym typeface="IBM Plex Sans Arabic Bold"/>
                        </a:rPr>
                        <a:t>Our app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IBM Plex Sans Arabic Bold"/>
                          <a:ea typeface="IBM Plex Sans Arabic Bold"/>
                          <a:cs typeface="IBM Plex Sans Arabic Bold"/>
                          <a:sym typeface="IBM Plex Sans Arabic Bold"/>
                        </a:rPr>
                        <a:t>Existing apps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23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Core Focus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Academics + extracurriculars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Apps often focus on either college administration or sports academy management.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89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Attendance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Event and practice attendance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Academic or sports attendance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89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Academic Sync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Lecture swaps with student alerts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Availability varies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23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Proof Of Attendance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Verified event records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Attendance reports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989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Audit Trail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Organized participation records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Change-history features vary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45348" y="1385937"/>
            <a:ext cx="13997303" cy="1235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7"/>
              </a:lnSpc>
            </a:pPr>
            <a:r>
              <a:rPr lang="en-US" sz="9027" b="1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COMPETITOR ANALYSIS</a:t>
            </a:r>
          </a:p>
        </p:txBody>
      </p:sp>
      <p:sp>
        <p:nvSpPr>
          <p:cNvPr id="6" name="AutoShape 6"/>
          <p:cNvSpPr/>
          <p:nvPr/>
        </p:nvSpPr>
        <p:spPr>
          <a:xfrm>
            <a:off x="5470945" y="9945605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812657" y="1936795"/>
          <a:ext cx="14625777" cy="7371489"/>
        </p:xfrm>
        <a:graphic>
          <a:graphicData uri="http://schemas.openxmlformats.org/drawingml/2006/table">
            <a:tbl>
              <a:tblPr/>
              <a:tblGrid>
                <a:gridCol w="2611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1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3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3831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IBM Plex Sans Arabic Bold"/>
                          <a:ea typeface="IBM Plex Sans Arabic Bold"/>
                          <a:cs typeface="IBM Plex Sans Arabic Bold"/>
                          <a:sym typeface="IBM Plex Sans Arabic Bold"/>
                        </a:rPr>
                        <a:t>Market dimension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IBM Plex Sans Arabic Bold"/>
                          <a:ea typeface="IBM Plex Sans Arabic Bold"/>
                          <a:cs typeface="IBM Plex Sans Arabic Bold"/>
                          <a:sym typeface="IBM Plex Sans Arabic Bold"/>
                        </a:rPr>
                        <a:t>Key metric / volume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IBM Plex Sans Arabic Bold"/>
                          <a:ea typeface="IBM Plex Sans Arabic Bold"/>
                          <a:cs typeface="IBM Plex Sans Arabic Bold"/>
                          <a:sym typeface="IBM Plex Sans Arabic Bold"/>
                        </a:rPr>
                        <a:t>Strategic insight and opportunity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491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Higher education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Approx. 45,473 colleges in India (AISHE 2021–22)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Target higher secondaries, colleges and universities managing extracurricular activities.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3696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Digital Attendance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Used in academic and sports management apps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Offer event-wise digital attendance.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4649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Permissions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Varies across platforms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Simplify event and practice approvals.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1491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Primary addressable users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Educational institutions, faculty and students.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Educational institutions (Higher secondaries, colleges and universities), faculty and students.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62633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Reminders and alerts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Notifications and attendance reports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Provide timely alerts and verified participation records.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3696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Lecture Swapping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Features vary by institution and software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Notify students automatically when teachers exchange lectures.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2145348" y="477842"/>
            <a:ext cx="13997303" cy="1235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7"/>
              </a:lnSpc>
            </a:pPr>
            <a:r>
              <a:rPr lang="en-US" sz="9027" b="1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MARKET ANALYSIS</a:t>
            </a:r>
          </a:p>
        </p:txBody>
      </p:sp>
      <p:sp>
        <p:nvSpPr>
          <p:cNvPr id="6" name="AutoShape 6"/>
          <p:cNvSpPr/>
          <p:nvPr/>
        </p:nvSpPr>
        <p:spPr>
          <a:xfrm>
            <a:off x="5517031" y="9945605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551198" y="2364510"/>
          <a:ext cx="15185604" cy="6580366"/>
        </p:xfrm>
        <a:graphic>
          <a:graphicData uri="http://schemas.openxmlformats.org/drawingml/2006/table">
            <a:tbl>
              <a:tblPr/>
              <a:tblGrid>
                <a:gridCol w="2541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7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4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2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29147">
                <a:tc>
                  <a:txBody>
                    <a:bodyPr/>
                    <a:lstStyle/>
                    <a:p>
                      <a:pPr algn="ctr">
                        <a:lnSpc>
                          <a:spcPts val="3686"/>
                        </a:lnSpc>
                        <a:defRPr/>
                      </a:pPr>
                      <a:r>
                        <a:rPr lang="en-US" sz="2633" b="1">
                          <a:solidFill>
                            <a:srgbClr val="000000"/>
                          </a:solidFill>
                          <a:latin typeface="IBM Plex Sans Arabic Bold"/>
                          <a:ea typeface="IBM Plex Sans Arabic Bold"/>
                          <a:cs typeface="IBM Plex Sans Arabic Bold"/>
                          <a:sym typeface="IBM Plex Sans Arabic Bold"/>
                        </a:rPr>
                        <a:t>Revenue source</a:t>
                      </a:r>
                      <a:endParaRPr lang="en-US" sz="1100"/>
                    </a:p>
                  </a:txBody>
                  <a:tcPr marL="278707" marR="278707" marT="278707" marB="278707" anchor="ctr">
                    <a:lnL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86"/>
                        </a:lnSpc>
                        <a:defRPr/>
                      </a:pPr>
                      <a:r>
                        <a:rPr lang="en-US" sz="2633" b="1">
                          <a:solidFill>
                            <a:srgbClr val="000000"/>
                          </a:solidFill>
                          <a:latin typeface="IBM Plex Sans Arabic Bold"/>
                          <a:ea typeface="IBM Plex Sans Arabic Bold"/>
                          <a:cs typeface="IBM Plex Sans Arabic Bold"/>
                          <a:sym typeface="IBM Plex Sans Arabic Bold"/>
                        </a:rPr>
                        <a:t>Amount</a:t>
                      </a:r>
                      <a:endParaRPr lang="en-US" sz="1100"/>
                    </a:p>
                  </a:txBody>
                  <a:tcPr marL="278707" marR="278707" marT="278707" marB="278707" anchor="ctr">
                    <a:lnL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86"/>
                        </a:lnSpc>
                        <a:defRPr/>
                      </a:pPr>
                      <a:r>
                        <a:rPr lang="en-US" sz="2633" b="1">
                          <a:solidFill>
                            <a:srgbClr val="000000"/>
                          </a:solidFill>
                          <a:latin typeface="IBM Plex Sans Arabic Bold"/>
                          <a:ea typeface="IBM Plex Sans Arabic Bold"/>
                          <a:cs typeface="IBM Plex Sans Arabic Bold"/>
                          <a:sym typeface="IBM Plex Sans Arabic Bold"/>
                        </a:rPr>
                        <a:t>How it earns</a:t>
                      </a:r>
                      <a:endParaRPr lang="en-US" sz="1100"/>
                    </a:p>
                  </a:txBody>
                  <a:tcPr marL="278707" marR="278707" marT="278707" marB="278707" anchor="ctr">
                    <a:lnL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86"/>
                        </a:lnSpc>
                        <a:defRPr/>
                      </a:pPr>
                      <a:r>
                        <a:rPr lang="en-US" sz="2633" b="1">
                          <a:solidFill>
                            <a:srgbClr val="000000"/>
                          </a:solidFill>
                          <a:latin typeface="IBM Plex Sans Arabic Bold"/>
                          <a:ea typeface="IBM Plex Sans Arabic Bold"/>
                          <a:cs typeface="IBM Plex Sans Arabic Bold"/>
                          <a:sym typeface="IBM Plex Sans Arabic Bold"/>
                        </a:rPr>
                        <a:t>Features</a:t>
                      </a:r>
                      <a:endParaRPr lang="en-US" sz="1100"/>
                    </a:p>
                  </a:txBody>
                  <a:tcPr marL="278707" marR="278707" marT="278707" marB="278707" anchor="ctr">
                    <a:lnL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0966">
                <a:tc>
                  <a:txBody>
                    <a:bodyPr/>
                    <a:lstStyle/>
                    <a:p>
                      <a:pPr algn="ctr">
                        <a:lnSpc>
                          <a:spcPts val="3686"/>
                        </a:lnSpc>
                        <a:defRPr/>
                      </a:pPr>
                      <a:r>
                        <a:rPr lang="en-US" sz="2633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Institutional subscription</a:t>
                      </a:r>
                      <a:endParaRPr lang="en-US" sz="1100"/>
                    </a:p>
                  </a:txBody>
                  <a:tcPr marL="278707" marR="278707" marT="278707" marB="278707" anchor="ctr">
                    <a:lnL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86"/>
                        </a:lnSpc>
                        <a:defRPr/>
                      </a:pPr>
                      <a:r>
                        <a:rPr lang="en-US" sz="2633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Rs. 1500-2000/month</a:t>
                      </a:r>
                      <a:endParaRPr lang="en-US" sz="1100"/>
                    </a:p>
                  </a:txBody>
                  <a:tcPr marL="278707" marR="278707" marT="278707" marB="278707" anchor="ctr">
                    <a:lnL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86"/>
                        </a:lnSpc>
                        <a:defRPr/>
                      </a:pPr>
                      <a:r>
                        <a:rPr lang="en-US" sz="2633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Higher secondaries/ colleges pay a monthly fee per institution</a:t>
                      </a:r>
                      <a:endParaRPr lang="en-US" sz="1100"/>
                    </a:p>
                  </a:txBody>
                  <a:tcPr marL="278707" marR="278707" marT="278707" marB="278707" anchor="ctr">
                    <a:lnL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86"/>
                        </a:lnSpc>
                        <a:defRPr/>
                      </a:pPr>
                      <a:r>
                        <a:rPr lang="en-US" sz="2633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Access to attendance, sspot passes, permissions and supervised attendance</a:t>
                      </a:r>
                      <a:endParaRPr lang="en-US" sz="1100"/>
                    </a:p>
                  </a:txBody>
                  <a:tcPr marL="278707" marR="278707" marT="278707" marB="278707" anchor="ctr">
                    <a:lnL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253">
                <a:tc>
                  <a:txBody>
                    <a:bodyPr/>
                    <a:lstStyle/>
                    <a:p>
                      <a:pPr algn="ctr">
                        <a:lnSpc>
                          <a:spcPts val="3686"/>
                        </a:lnSpc>
                        <a:defRPr/>
                      </a:pPr>
                      <a:r>
                        <a:rPr lang="en-US" sz="2633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Setup and onboarding</a:t>
                      </a:r>
                      <a:endParaRPr lang="en-US" sz="1100"/>
                    </a:p>
                  </a:txBody>
                  <a:tcPr marL="278707" marR="278707" marT="278707" marB="278707" anchor="ctr">
                    <a:lnL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86"/>
                        </a:lnSpc>
                        <a:defRPr/>
                      </a:pPr>
                      <a:r>
                        <a:rPr lang="en-US" sz="2633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Rs. 5000/ one-time</a:t>
                      </a:r>
                      <a:endParaRPr lang="en-US" sz="1100"/>
                    </a:p>
                  </a:txBody>
                  <a:tcPr marL="278707" marR="278707" marT="278707" marB="278707" anchor="ctr">
                    <a:lnL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86"/>
                        </a:lnSpc>
                        <a:defRPr/>
                      </a:pPr>
                      <a:r>
                        <a:rPr lang="en-US" sz="2633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One-time fee for setup and onboarding support</a:t>
                      </a:r>
                      <a:endParaRPr lang="en-US" sz="1100"/>
                    </a:p>
                  </a:txBody>
                  <a:tcPr marL="278707" marR="278707" marT="278707" marB="278707" anchor="ctr">
                    <a:lnL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86"/>
                        </a:lnSpc>
                        <a:defRPr/>
                      </a:pPr>
                      <a:r>
                        <a:rPr lang="en-US" sz="2633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Initial setup, configuration and data migration</a:t>
                      </a:r>
                      <a:endParaRPr lang="en-US" sz="1100"/>
                    </a:p>
                  </a:txBody>
                  <a:tcPr marL="278707" marR="278707" marT="278707" marB="278707" anchor="ctr">
                    <a:lnL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741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3102396" y="973141"/>
            <a:ext cx="12083207" cy="139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31"/>
              </a:lnSpc>
            </a:pPr>
            <a:r>
              <a:rPr lang="en-US" sz="10227" b="1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REVENUE MODEL</a:t>
            </a:r>
          </a:p>
        </p:txBody>
      </p:sp>
      <p:sp>
        <p:nvSpPr>
          <p:cNvPr id="6" name="AutoShape 6"/>
          <p:cNvSpPr/>
          <p:nvPr/>
        </p:nvSpPr>
        <p:spPr>
          <a:xfrm>
            <a:off x="5770507" y="9830388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654890" y="2305638"/>
          <a:ext cx="12684276" cy="7524750"/>
        </p:xfrm>
        <a:graphic>
          <a:graphicData uri="http://schemas.openxmlformats.org/drawingml/2006/table">
            <a:tbl>
              <a:tblPr/>
              <a:tblGrid>
                <a:gridCol w="3530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3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1613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IBM Plex Sans Arabic Bold"/>
                          <a:ea typeface="IBM Plex Sans Arabic Bold"/>
                          <a:cs typeface="IBM Plex Sans Arabic Bold"/>
                          <a:sym typeface="IBM Plex Sans Arabic Bold"/>
                        </a:rPr>
                        <a:t>Technology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IBM Plex Sans Arabic Bold"/>
                          <a:ea typeface="IBM Plex Sans Arabic Bold"/>
                          <a:cs typeface="IBM Plex Sans Arabic Bold"/>
                          <a:sym typeface="IBM Plex Sans Arabic Bold"/>
                        </a:rPr>
                        <a:t>Used for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IBM Plex Sans Arabic Bold"/>
                          <a:ea typeface="IBM Plex Sans Arabic Bold"/>
                          <a:cs typeface="IBM Plex Sans Arabic Bold"/>
                          <a:sym typeface="IBM Plex Sans Arabic Bold"/>
                        </a:rPr>
                        <a:t>Why?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613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XML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Mobile UI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Builds the app interface.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1613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Java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Backend programming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Handles application logic.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1613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Retrofit+Gson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API communication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Connects app to server,  converts JSON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1613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Spring Boot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Backend framework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Simplifies backend development, create REST APIs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1613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MySQL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Data storage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Stores and manages app data.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1613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Spring security+BCrypt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Security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Encrypts passwords, controls role access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9346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Android Studio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Android testing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 Arabic"/>
                          <a:ea typeface="IBM Plex Sans Arabic"/>
                          <a:cs typeface="IBM Plex Sans Arabic"/>
                          <a:sym typeface="IBM Plex Sans Arabic"/>
                        </a:rPr>
                        <a:t>Runs and tests the app.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  <a:endParaRPr lang="en-US" sz="1800">
                        <a:solidFill>
                          <a:srgbClr val="000000"/>
                        </a:solidFill>
                        <a:latin typeface="IBM Plex Sans Arabic"/>
                        <a:ea typeface="IBM Plex Sans Arabic"/>
                        <a:cs typeface="IBM Plex Sans Arabic"/>
                        <a:sym typeface="IBM Plex Sans Arabic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5729277" y="10047997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751888" y="963616"/>
            <a:ext cx="14490279" cy="139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04"/>
              </a:lnSpc>
            </a:pPr>
            <a:r>
              <a:rPr lang="en-US" sz="10200" b="1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TECHNOLOGIES USED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02396" y="963616"/>
            <a:ext cx="12083207" cy="139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04"/>
              </a:lnSpc>
            </a:pPr>
            <a:r>
              <a:rPr lang="en-US" sz="10200" b="1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18695" y="3224127"/>
            <a:ext cx="14486709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2346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Eventra will help students keep track of their participation and attendance in sports and other events.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18695" y="4202864"/>
            <a:ext cx="13450610" cy="60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2346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It will reduce confusion regarding attendance records, allowing students identify discrepancies and raise concerns with the concerned faculty.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18695" y="5474642"/>
            <a:ext cx="11448216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2346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Students will be able to stay informed about upcoming events and practice sessions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18695" y="6451145"/>
            <a:ext cx="13462814" cy="60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2346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Helps students balance academics and extracurricular activities, making campus opportunities easier to access.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18695" y="7722923"/>
            <a:ext cx="14177156" cy="60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2346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Overall, Eventra makes student participation, campus activities and attendance records easier to manage.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48920" y="3911181"/>
            <a:ext cx="12083207" cy="2166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46"/>
              </a:lnSpc>
            </a:pPr>
            <a:r>
              <a:rPr lang="en-US" sz="16025" b="1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THANK YOU</a:t>
            </a:r>
          </a:p>
        </p:txBody>
      </p:sp>
      <p:sp>
        <p:nvSpPr>
          <p:cNvPr id="5" name="AutoShape 5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Microsoft Office PowerPoint</Application>
  <PresentationFormat>Custom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Work Sans Semi-Bold</vt:lpstr>
      <vt:lpstr>Calibri</vt:lpstr>
      <vt:lpstr>IBM Plex Sans Arabic Bold</vt:lpstr>
      <vt:lpstr>Arial</vt:lpstr>
      <vt:lpstr>IBM Plex Sans Arabic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EVENTRA</dc:title>
  <cp:lastModifiedBy>Simran Naik Dessai</cp:lastModifiedBy>
  <cp:revision>2</cp:revision>
  <dcterms:created xsi:type="dcterms:W3CDTF">2006-08-16T00:00:00Z</dcterms:created>
  <dcterms:modified xsi:type="dcterms:W3CDTF">2026-10-29T05:36:58Z</dcterms:modified>
  <dc:identifier>DAHZOqA2078</dc:identifier>
</cp:coreProperties>
</file>